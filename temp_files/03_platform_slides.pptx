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 Strategy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4 — Network Effects, Tipping, and Regulation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 Vienna · Department of Information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Recap: Direct vs. indirect network effects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Tipping point mechanics and winner-takes-all markets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Visualising the tipping threshold — model overview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Multi-homing and competitive bottlenecks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Regulatory responses: DMA, DMCC, interoperability mandates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Case discussion: App store markets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Tipping Point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conditions for market tipping: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network effects — each additional user substantially increases value for all others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switching costs — users face significant friction when considering alternative platforms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product differentiation — platforms are close substitutes on non-network dimensions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mover advantages — initial scale advantages compound over time through positive feedback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Tipping is NOT inevitable — multi-homing and differentiation can sustain competition even with strong network effects.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4114800"/>
            <a:ext cx="68580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0" cy="320040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931920"/>
            <a:ext cx="36576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840480"/>
            <a:ext cx="36576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749040"/>
            <a:ext cx="36576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611880"/>
            <a:ext cx="365760" cy="8229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3429000"/>
            <a:ext cx="365760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3154680"/>
            <a:ext cx="365760" cy="16459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743200"/>
            <a:ext cx="365760" cy="2286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240280"/>
            <a:ext cx="365760" cy="274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828800"/>
            <a:ext cx="365760" cy="2560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508760"/>
            <a:ext cx="365760" cy="1828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298448"/>
            <a:ext cx="365760" cy="12801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170432"/>
            <a:ext cx="365760" cy="8229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078992"/>
            <a:ext cx="36576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024128"/>
            <a:ext cx="36576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987552"/>
            <a:ext cx="365760" cy="274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914400"/>
            <a:ext cx="0" cy="3200400"/>
          </a:xfrm>
          <a:prstGeom prst="line">
            <a:avLst/>
          </a:prstGeom>
          <a:noFill/>
          <a:ln w="19050">
            <a:solidFill>
              <a:srgbClr val="EE444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rot="5400000">
            <a:off x="7635240" y="3977640"/>
            <a:ext cx="164592" cy="20116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804672"/>
            <a:ext cx="201168" cy="20116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914400"/>
            <a:ext cx="2560320" cy="3200400"/>
          </a:xfrm>
          <a:prstGeom prst="rect">
            <a:avLst/>
          </a:prstGeom>
          <a:solidFill>
            <a:srgbClr val="DDEEFF">
              <a:alpha val="40000"/>
            </a:srgbClr>
          </a:solidFill>
          <a:ln w="6350">
            <a:solidFill>
              <a:srgbClr val="AACC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914400"/>
            <a:ext cx="4297680" cy="3200400"/>
          </a:xfrm>
          <a:prstGeom prst="rect">
            <a:avLst/>
          </a:prstGeom>
          <a:solidFill>
            <a:srgbClr val="FFEEDD">
              <a:alpha val="40000"/>
            </a:srgbClr>
          </a:solidFill>
          <a:ln w="6350">
            <a:solidFill>
              <a:srgbClr val="FFCCA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Multi-Homing and Competitive Bottlenecks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E8EEFF"/>
          </a:solidFill>
          <a:ln w="12700">
            <a:solidFill>
              <a:srgbClr val="CCD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1097280"/>
            <a:ext cx="3840480" cy="34747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Single-Homing Side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commit to one platform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gains bottleneck power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Advertisers must pay to access users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Consumers on ride-hailing apps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Multi-Homing Side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freely join multiple platforms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sustained despite network effects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Drivers using both Uber &amp; Bolt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Sellers on Amazon &amp; eBay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Responses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E8EE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Digital Markets Act (2022)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Gatekeeper designation, interoperability mandates, data portability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841248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963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DMCC Act (2024)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status, pro-competition interventions, conduct requirements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E8EE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307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ACCC Platform Inquiry (2023)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Sector-specific codes, merger reform, mandatory bargaining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Platform Strategy</dc:title>
  <dc:subject>PptxGenJS Presentation</dc:subject>
  <dc:creator>PptxGenJS</dc:creator>
  <cp:lastModifiedBy>PptxGenJS</cp:lastModifiedBy>
  <cp:revision>1</cp:revision>
  <dcterms:created xsi:type="dcterms:W3CDTF">2026-03-11T10:07:24Z</dcterms:created>
  <dcterms:modified xsi:type="dcterms:W3CDTF">2026-03-11T10:07:24Z</dcterms:modified>
</cp:coreProperties>
</file>